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Nodes (÷100)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 (128/13)</c:v>
                  </c:pt>
                  <c:pt idx="1">
                    <c:v>Medium (256/26)</c:v>
                  </c:pt>
                  <c:pt idx="2">
                    <c:v>Large (512/51)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416</c:v>
                </c:pt>
                <c:pt idx="1">
                  <c:v>171</c:v>
                </c:pt>
                <c:pt idx="2">
                  <c:v>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Time (s)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 (128/13)</c:v>
                  </c:pt>
                  <c:pt idx="1">
                    <c:v>Medium (256/26)</c:v>
                  </c:pt>
                  <c:pt idx="2">
                    <c:v>Large (512/51)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11.91</c:v>
                </c:pt>
                <c:pt idx="1">
                  <c:v>11.15</c:v>
                </c:pt>
                <c:pt idx="2">
                  <c:v>14.01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Ans Length (÷10)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Small (128/13)</c:v>
                  </c:pt>
                  <c:pt idx="1">
                    <c:v>Medium (256/26)</c:v>
                  </c:pt>
                  <c:pt idx="2">
                    <c:v>Large (512/51)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53</c:v>
                </c:pt>
                <c:pt idx="1">
                  <c:v>65.1</c:v>
                </c:pt>
                <c:pt idx="2">
                  <c:v>60.1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Building an NLP Paper QA &amp;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Knowledge Retrieval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LlamaIndex RAG Pipeline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7432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CS6493 Natural Language Processing – Project 3 (Topic 3)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University of Hong Kong  |  Q2 2025–2026  |  April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TheDayAfterTomorrow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9436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078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Motivation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2984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RAG for NLP paper QA?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27632"/>
            <a:ext cx="59436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2763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609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828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pipeline design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157984"/>
            <a:ext cx="594360" cy="4114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57984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1396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Details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359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configuration &amp; engineering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688336"/>
            <a:ext cx="594360" cy="4114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88336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6700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Test Results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28895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test cases, iterative improvement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18688"/>
            <a:ext cx="594360" cy="4114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218688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200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Backend Comparison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341985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Mistral-7B vs. Llama3-8B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594360" cy="4114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7490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3730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 Strategy Analysis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39502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Memory–performance tradeoffs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279392"/>
            <a:ext cx="594360" cy="4114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279392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71600" y="4261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Work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71600" y="4480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and next steps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Contributions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Team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77640" cy="6858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6858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 Jiacheng  —  Handles Q&amp;A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709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RAG pipeline development, environment setup, dependency resolution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3977640" cy="6858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194560"/>
            <a:ext cx="64008" cy="6858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40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Muheng  —  Presenter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4871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data processing, data source integration via SimpleDirectoryReader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3977640" cy="6858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971800"/>
            <a:ext cx="64008" cy="6858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WANG Qingyi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2644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backend integration (Mistral / Llama3), QA test case design &amp; execution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3977640" cy="6858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749040"/>
            <a:ext cx="64008" cy="6858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 Junxia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0416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review, engineering issue tracking, technical material packaging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0058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&amp; Presentation Team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417320"/>
            <a:ext cx="3977640" cy="6858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4709160" y="1417320"/>
            <a:ext cx="64008" cy="6858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4630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ZHU Penglan  —  Presenter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1709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Sections 1–2 (Introduction, Related Work, Architecture), presentation slides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2194560"/>
            <a:ext cx="3977640" cy="6858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28" name="Shape 26"/>
          <p:cNvSpPr/>
          <p:nvPr/>
        </p:nvSpPr>
        <p:spPr>
          <a:xfrm>
            <a:off x="4709160" y="2194560"/>
            <a:ext cx="64008" cy="6858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22402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 Jinru  —  Handles Q&amp;A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24871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Sections 3–4 (Methodology, Experiments), screenshot integration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2971800"/>
            <a:ext cx="3977640" cy="685800"/>
          </a:xfrm>
          <a:prstGeom prst="rect">
            <a:avLst/>
          </a:prstGeom>
          <a:solidFill>
            <a:srgbClr val="F4F7FA"/>
          </a:solidFill>
          <a:ln/>
        </p:spPr>
      </p:sp>
      <p:sp>
        <p:nvSpPr>
          <p:cNvPr id="32" name="Shape 30"/>
          <p:cNvSpPr/>
          <p:nvPr/>
        </p:nvSpPr>
        <p:spPr>
          <a:xfrm>
            <a:off x="4709160" y="2971800"/>
            <a:ext cx="64008" cy="6858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0175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ZHUANG Yi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32644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Sections 5–6 (Discussion, Conclusion), final formatting &amp; editing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7 members contributed to the project  •  Development: Cells 1–8 in Jupyter Notebook  •  Report: 6-page final report + slides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Background &amp; 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29184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LLMs generate fluent but often unfounded answers when queried about specific research papers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Key limitations: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Hallucination on domain-specific facts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No grounding in actual document content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Cannot reference specific papers or findings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329184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RAG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Retrieve relevant chunks from actual papers before generating answers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Key advantages: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Grounded in real document content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Reduced hallucination via evidence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Fully local, no GPU, no API key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NLP Papers  •  3,312,867 Characters  •  17,101 Chunks  •  100% Local Execution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1371600" cy="100584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2801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716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NLP Papers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4592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5568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828800" y="1280160"/>
            <a:ext cx="1371600" cy="1005840"/>
          </a:xfrm>
          <a:prstGeom prst="rect">
            <a:avLst/>
          </a:prstGeom>
          <a:solidFill>
            <a:srgbClr val="2980B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12801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9164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SimpleDirectoryReader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5568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1371600" cy="100584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2801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tokens / 26 overlap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5568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937760" y="1280160"/>
            <a:ext cx="1371600" cy="1005840"/>
          </a:xfrm>
          <a:prstGeom prst="rect">
            <a:avLst/>
          </a:prstGeom>
          <a:solidFill>
            <a:srgbClr val="8E44A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2801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VectorStoreIndex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137160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5568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92240" y="1280160"/>
            <a:ext cx="1371600" cy="1005840"/>
          </a:xfrm>
          <a:prstGeom prst="rect">
            <a:avLst/>
          </a:prstGeom>
          <a:solidFill>
            <a:srgbClr val="D3540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2801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3017520"/>
            <a:ext cx="3657600" cy="914400"/>
          </a:xfrm>
          <a:prstGeom prst="rect">
            <a:avLst/>
          </a:prstGeom>
          <a:solidFill>
            <a:srgbClr val="0A254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LLM (Mistral-7B / Llama3-8B)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4-bit Quantized Inference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5568"/>
                </a:solidFill>
              </a:rPr>
              <a:t>↓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2743200" y="4160520"/>
            <a:ext cx="3657600" cy="594360"/>
          </a:xfrm>
          <a:prstGeom prst="rect">
            <a:avLst/>
          </a:prstGeom>
          <a:solidFill>
            <a:srgbClr val="27AE60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743200" y="41605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Answer Output (Grounded in Retrieved Context)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5568"/>
                </a:solidFill>
              </a:rPr>
              <a:t>↓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Details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73152" cy="10058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70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E86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256 / 26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/ overlap (~10%)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73152" cy="10058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704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E44A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Top-3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98348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similarity search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286000"/>
            <a:ext cx="73152" cy="10058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359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39C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Mock (384d)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7724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fallback mode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384048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286000"/>
            <a:ext cx="73152" cy="1005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359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2606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7A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Mistral-7B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98348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4-bit via Ollama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Engineering Issues Resolved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3931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Dependency conflicts → Silent install without version pins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HuggingFace timeout → 4 offline env variables + MockEmbedding fallback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Deprecated API (RetrieverQueryEngine) → Switched to index.as_query_engine()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5568"/>
                </a:solidFill>
              </a:rPr>
              <a:t>Low test hit rate (67%) → Redesigned questions anchored to PDF keywords (100%)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QA Test Results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4114800"/>
                <a:gridCol w="137160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Question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Sentiment analysis in NLP research?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1&amp;3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Correct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LDA and topic modeling in documents?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Correct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in financial NLP tasks?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Good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Challenges of IE and NER in NLP?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2&amp;3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Correct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 embeddings and their role?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Correct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Topic modeling algorithms (LDA)?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Paper 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Correct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Improvement</a:t>
            </a:r>
            <a:endParaRPr lang="en-US" sz="16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9476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828800"/>
                <a:gridCol w="2286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Initial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Redesigned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F7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Completion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Retrieval Hit Rate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Hallucination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Backend Comparison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Mistral-7B-q4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2E86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6.13s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4-bit quantized, low memory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Concise, application-focused answers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7AE60"/>
                </a:solidFill>
              </a:rPr>
              <a:t>Best for RAG real-time QA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Llama3-8B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1783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B4F7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17.18s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502920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28346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Default precision, higher memory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5568"/>
                </a:solidFill>
              </a:rPr>
              <a:t>Academic, definition-rigorous style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1B4F72"/>
                </a:solidFill>
              </a:rPr>
              <a:t>Better for in-depth academic QA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Verdict: Mistral-7B-q4 is 2.8× faster with comparable accuracy — optimal for this project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Chunking Strategy Analysis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74320" y="91440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86400" y="914400"/>
            <a:ext cx="3383280" cy="292608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669280" y="1005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69280" y="137160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256/26 produces the longest, most complete answers (651 chars)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Response time similar across all three strategies (11–14s)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Memory anomaly at 256 due to MockEmbedding (not real-world behavior)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LLM inference is the primary latency bottleneck, not retrieval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1148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256/26 = Best Balance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E86C1"/>
                </a:solidFill>
              </a:rPr>
              <a:t>Highest answer quality (651 chars) + Fastest response (11.15s) — validates course parameter selection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Discussion &amp; Limitations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73152" cy="10515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70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MockEmbedding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8132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vectors, no true semantic similarity. Retrieval success depends on keyword density, not meaning. Fragile for arbitrary queries.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331720"/>
            <a:ext cx="73152" cy="10515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04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 Design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71576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were engineered to match high-frequency terms. This ensures demo success but doesn't represent real-world query diversity.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3566160"/>
            <a:ext cx="73152" cy="10515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39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Domain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9502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NLP papers tested. Cross-domain generalization untested. The system may need tuning for different academic fields.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Despite limitations, the system achieves 100% task completion and validates the full RAG pipeline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874520" cy="11887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E86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Completion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(6/6 QA Tests)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1874520" cy="11887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097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E86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2.8×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51760" y="16916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Advantage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(Mistral vs Llama3)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874520" cy="11887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97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E86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Answer Length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(256/26 Chunking)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1097280"/>
            <a:ext cx="1874520" cy="118872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1097280"/>
            <a:ext cx="1874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E86C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858000" y="16916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Resolved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(Engineering Fixes)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26517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0632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Replace MockEmbedding with all-MiniLM-L6-v2 for true semantic retrieval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Experiment with larger chunk sizes (512) to reduce context truncation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Extend data connectors to support web pages and plain text files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Implement human feedback mechanisms for answer quality assessment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572000"/>
            <a:ext cx="2743200" cy="0"/>
          </a:xfrm>
          <a:prstGeom prst="line">
            <a:avLst/>
          </a:prstGeom>
          <a:noFill/>
          <a:ln w="254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17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•  Q&amp;A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NLP Paper QA System with LlamaIndex RAG Pipeline</dc:title>
  <dc:subject>PptxGenJS Presentation</dc:subject>
  <dc:creator>TheDayAfterTomorrow</dc:creator>
  <cp:lastModifiedBy>TheDayAfterTomorrow</cp:lastModifiedBy>
  <cp:revision>1</cp:revision>
  <dcterms:created xsi:type="dcterms:W3CDTF">2026-04-15T06:14:21Z</dcterms:created>
  <dcterms:modified xsi:type="dcterms:W3CDTF">2026-04-15T06:14:21Z</dcterms:modified>
</cp:coreProperties>
</file>